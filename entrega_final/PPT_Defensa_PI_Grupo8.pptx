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[Yeison · 0:15]</a:t>
            </a:r>
          </a:p>
          <a:p>
            <a:r>
              <a:t>Una frase de apertura: vamos a mostrar donde se fuga la conversion de la tienda y que hacer con eso. No leer la portada.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[Yeison · 1:15]</a:t>
            </a:r>
          </a:p>
          <a:p>
            <a:r>
              <a:t>De cada 100 personas que entran, 98 se van sin comprar; y de los que ponen algo en el carrito, 4 de cada 10 lo abandonan. No construimos un modelo para adivinar quien compra: construimos un SISTEMA DE DECISION para entender donde y por que se fuga la conversion, que visitantes la explican y donde intervenir. La prediccion es el instrumento; la decision de negocio es el producto. Plantar la Pregunta de Oro y prometer responderla al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[Heider · 1:00]</a:t>
            </a:r>
          </a:p>
          <a:p>
            <a:r>
              <a:t>Trabajamos sobre un dataset real de ~110 millones de eventos y 14.5 GB. Lo importante: no modelamos eventos sueltos sino SESIONES, porque la pregunta de negocio es por visita, no por clic. Encuadre Big Data para el jurado de Grandes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[Heider · 1:45]</a:t>
            </a:r>
          </a:p>
          <a:p>
            <a:r>
              <a:t>Plantilla 'escenario ideal vs. desarrollado' (lo premian): en produccion seria Kafka→Flink→S3; lo implementamos acotado en Databricks Free con un replay de streaming Kappa, que demuestra lo mismo sin broker externo. Particion POR TAMANO: la Gold no se particiona (1.33 GB; particionar daria micro-archivos de ~22 MB, el anti-patron) → OPTIMIZE + ZORDER + data-skipping. La frontera train/test se ve en el flujo (filtro session_date). Mencionar gobernanza con Unity Catalog en la referencia, sin implementarla.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[Kelly · 0:50]</a:t>
            </a:r>
          </a:p>
          <a:p>
            <a:r>
              <a:t>Declaracion + conector + razon: el abandono de carrito es 41 %, PORQUE la intencion existe pero algo frena el cierre. Ahi hay dinero recuperable sin traer mas trafico. Primera parte del 'donde' de la Pregunta de Oro.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[Kelly · 1:00]</a:t>
            </a:r>
          </a:p>
          <a:p>
            <a:r>
              <a:t>La oportunidad no esta repartida: se concentra en electronica, y dentro de ella en dos marcas. Eso enfoca donde mirar. CAVEAT para Q&amp;A (no en slide): el $250 M es el total global incl. 'Unknown'; las barras por-categoria excluyen 'Unknown' y suman ~$224 M. No invitar a sumarlas en vivo esperando $250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[Kelly · 0:50]</a:t>
            </a:r>
          </a:p>
          <a:p>
            <a:r>
              <a:t>Aumento X debido a Y + pregunta: el revenue se concentra en los recurrentes PORQUE vuelven y gastan 5× mas. ¿Vale mas perseguir desconocidos o blindar a estos? Esa es la palanca B: retencion.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[Sara · 1:30]</a:t>
            </a:r>
          </a:p>
          <a:p>
            <a:r>
              <a:t>Pre-emptar las TRES preguntas de Teran: TEMPORAL porque replica produccion (predecir el futuro); UNO SOLO en la frontera para no contaminar (la CV estratificada va dentro del train); ESE CORTE lo respalda la evidencia de deriva: PSI de precio ≈ 0 y conversion estable Oct↔Nov (notebook 03). Y lo clave: el split se hace ANTES de construir features, justo el error que les marcaron a pregrado.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[Sara · 1:15]</a:t>
            </a:r>
          </a:p>
          <a:p>
            <a:r>
              <a:t>Frases-ancla de Teran: nunca decimos 'el mejor modelo' sin decir SEGUN QUE metrica, validacion y comparacion: aqui PR-AUC, CV de 5 folds, misma muestra. Como el test casi iguala a la CV, no hay fuga: 'si el test eligiera el modelo, dejaria de ser test', por eso el test lo tocamos una sola vez. Negocio: ordena a los compradores ~2× mejor que el azar.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[Sara · 1:00]</a:t>
            </a:r>
          </a:p>
          <a:p>
            <a:r>
              <a:t>Ancla de Teran: 'el modelo estima; el umbral decide'. 0.5 seria un error bajo desbalanceo; fijamos el umbral por costo/F1 en 0.092. Negocio: con el 15 % del esfuerzo se captura ~1/3 de las compras. CAVEAT (Q&amp;A): la base 5.6 % es la prevalencia del test (nov 24–30); la base limpia global es 5.97 %. No mezclarlas.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[Sara · 1:15]</a:t>
            </a:r>
          </a:p>
          <a:p>
            <a:r>
              <a:t>No repetimos el ranking: lo LEEMOS. La probabilidad SUBE con el precio y el peso de electronica de lo que ves, no con el numero de vistas. Por eso usamos permutacion y no la importancia nativa, que subestima a electronics_view_share por su baja cardinalidad. Cerrar con el insight contraintuitivo (2.2 min, navegan menos). OJO: no citar '2.2 min' cuando C3 este en pantalla (C3 perfila ~12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[Sara · 1:10]</a:t>
            </a:r>
          </a:p>
          <a:p>
            <a:r>
              <a:t>Ancla de Teran 'cluster != segmento': no llamamos 'segmento' a cualquier cluster: los nombramos y accionamos. Elegimos k=5 por ACCIONABILIDAD; el silhouette favoreceria k=2 (0.52) pero solo separa 'electronica si/no', demasiado grueso para decidir. C3 = mayor conversion con volumen → objetivo a intervenir.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[Yeison · 1:05]</a:t>
            </a:r>
          </a:p>
          <a:p>
            <a:r>
              <a:t>El corazon del proyecto: el clustering dice DONDE esta la oportunidad (electronica) y el modelo de propension, dentro de ahi, A QUIEN priorizar sesion a sesion. Ninguno solo basta; el cruce es el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[Yeison · 1:15]</a:t>
            </a:r>
          </a:p>
          <a:p>
            <a:r>
              <a:t>Cierra el alcance (responde al revisor): el dato es observacional, no hay variable de tratamiento, asi que estimar uplift seria afirmar causalidad no verificable. Lo honesto es DISENAR el A/B que si lo mediria: sobre C3, aleatorizando por visitante, con guardarrail de margen. Con un MDE de medio punto, ~49,600 visitantes por brazo, se corre en 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[Heider · 1:00]</a:t>
            </a:r>
          </a:p>
          <a:p>
            <a:r>
              <a:t>Cerramos el ciclo de vida del dato: el modelo se loguea en MLflow y se aplica a las 19.7 M sesiones; el resultado (el Contrato 2) vive en Delta y alimenta el tablero y el experimento. Y lo validamos: al recargarlo, las probabilidades reproducen PR-AUC y Brier, y su media coincide con la tasa base. Cubre 'persistencia de modelos' de Grandes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[Yeison · 1:20]</a:t>
            </a:r>
          </a:p>
          <a:p>
            <a:r>
              <a:t>Cerrar el arco: abrimos preguntando donde se fuga la conversion y que segmento la explica. Respuesta: se fuga en el CARRITO DE ELECTRONICA y el segmento de mayor oportunidad es C3. El modelo prioriza a quien, el experimento mediria cuanto. Aporte por materia: ML (propension + clustering calibrados), Grandes Datos (Medallion/Kappa + scoring + Contrato 2), Visualizacion (tablero ejecutivo desplegado). La prediccion fue el instrumento; la decision de negocio es el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[Kelly · 2:00]</a:t>
            </a:r>
          </a:p>
          <a:p>
            <a:r>
              <a:t>Esto esta desplegado y es publico. Filtro electronica... aqui esta el pool de carritos en juego; filtro por marca... Samsung y Apple. La historia de las slides es exactamente lo que ven aqui. Definir publico (negocio/direccion) y objetivo (convencer de donde intervenir). Ensayar el filtrado antes; tener captura de respaldo.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[Equipo · Q&amp;A]</a:t>
            </a:r>
          </a:p>
          <a:p>
            <a:r>
              <a:t>Invitar preguntas; al responder, volver al tablero o a la slide concreta que respalda. No responder de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Optimizacion de la conversion en e-commerce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41832" y="3383280"/>
            <a:ext cx="2743200" cy="54864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BBBBB"/>
                </a:solidFill>
                <a:latin typeface="Segoe UI"/>
              </a:rPr>
              <a:t>Un sistema de decision sobre propension de compra · dataset REES46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  <a:latin typeface="Segoe UI"/>
              </a:rPr>
              <a:t>Kelly  ·  Sara  ·  Heider  ·  Yeison
Aprendizaje Automatico   ·   Grandes Datos   ·   Visualizacion
EAFIT — Maestria en Ciencia de Datos  ·  9 de 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El problema: la fuga de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La tienda pierde 98 de cada 100 visitas y 4 de cada 10 carritos.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9834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98 de cada 100 visitas no compran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41 % de los carritos se abandonan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La intencion existe; algo frena el cierre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075688"/>
            <a:ext cx="192024" cy="192024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71815" y="2075688"/>
            <a:ext cx="192024" cy="192024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36992" y="207568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2167" y="207568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67344" y="207568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32519" y="207568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97696" y="207568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62872" y="207568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28048" y="207568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93224" y="207568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234086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71815" y="234086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36992" y="234086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7" y="234086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67344" y="234086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19" y="234086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7696" y="234086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62872" y="234086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28048" y="234086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93224" y="234086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260604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71815" y="260604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36992" y="260604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02167" y="260604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67344" y="260604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32519" y="260604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97696" y="260604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62872" y="260604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28048" y="260604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93224" y="260604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06640" y="2871215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71815" y="2871215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36992" y="2871215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02167" y="2871215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67344" y="2871215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32519" y="2871215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97696" y="2871215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62872" y="2871215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28048" y="2871215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793224" y="2871215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06640" y="3136391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671815" y="3136391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36992" y="3136391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02167" y="3136391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67344" y="3136391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32519" y="3136391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97696" y="3136391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62872" y="3136391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28048" y="3136391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93224" y="3136391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06640" y="340156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671815" y="340156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36992" y="340156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02167" y="340156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67344" y="340156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32519" y="340156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997696" y="340156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62872" y="340156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28048" y="340156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93224" y="3401568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406640" y="366674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71815" y="366674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36992" y="366674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02167" y="366674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67344" y="366674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732519" y="366674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997696" y="366674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62872" y="366674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28048" y="366674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793224" y="3666744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406640" y="393192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671815" y="393192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936992" y="393192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202167" y="393192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467344" y="393192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732519" y="393192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997696" y="393192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62872" y="393192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528048" y="393192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793224" y="3931920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06640" y="4197096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71815" y="4197096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36992" y="4197096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202167" y="4197096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467344" y="4197096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732519" y="4197096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997696" y="4197096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262872" y="4197096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528048" y="4197096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793224" y="4197096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406640" y="4462272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71815" y="4462272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936992" y="4462272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202167" y="4462272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67344" y="4462272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732519" y="4462272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7696" y="4462272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62872" y="4462272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528048" y="4462272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793224" y="4462272"/>
            <a:ext cx="192024" cy="19202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806440" y="477316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32D2D"/>
                </a:solidFill>
                <a:latin typeface="Segoe UI"/>
              </a:rPr>
              <a:t>2 de cada 100 compran  →  98 % se va sin comprar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48640" y="5468112"/>
            <a:ext cx="11091672" cy="713232"/>
          </a:xfrm>
          <a:prstGeom prst="round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77240" y="5522976"/>
            <a:ext cx="10607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  <a:latin typeface="Segoe UI"/>
              </a:rPr>
              <a:t>Pregunta de Oro — ¿Donde se concentra la fuga de conversion y que segmento de visitantes representa la mayor oportunidad de recuperarla?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Yeison · 1:15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Los datos: escala Big Data, unidad = sesion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Es un problema de Big Data real y modelamos por sesion, no por clic.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983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REES46: clickstream multi-categoria, Oct–Nov 2019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109.95 M eventos  ·  ~14.5 GB crudos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Gold = 22.99 M sesiones (1 fila = 1 user_session)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Base limpia de modelado: 19.71 M · tasa 5.97 %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057400"/>
            <a:ext cx="2691993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Eventos del clickstream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8498433" y="2720340"/>
            <a:ext cx="2103435" cy="50292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56733" y="26746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D2D2D"/>
                </a:solidFill>
                <a:latin typeface="Segoe UI"/>
              </a:rPr>
              <a:t>109.95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886200"/>
            <a:ext cx="2691993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Sesiones (nuestra unidad)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98433" y="4549140"/>
            <a:ext cx="439817" cy="5029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3115" y="45034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3B6D11"/>
                </a:solidFill>
                <a:latin typeface="Segoe UI"/>
              </a:rPr>
              <a:t>22.99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5751576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Segoe UI"/>
              </a:rPr>
              <a:t>1 fila = 1 sesion · base limpia de modelado 19.71 M (tasa de compra 5.97 %)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Heider · 1:00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Arquitectura de datos: referencia vs. implementada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Disenamos para produccion y lo implementamos acotado a Databricks Free.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5555"/>
                </a:solidFill>
                <a:latin typeface="Segoe UI"/>
              </a:rPr>
              <a:t>REFERENCIA (produccion)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205740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6D11"/>
                </a:solidFill>
                <a:latin typeface="Segoe UI"/>
              </a:rPr>
              <a:t>IMPLEMENTADA (Databricks Free)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41448"/>
            <a:ext cx="5074920" cy="402336"/>
          </a:xfrm>
          <a:prstGeom prst="round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2D2D2D"/>
                </a:solidFill>
                <a:latin typeface="Segoe UI"/>
              </a:rPr>
              <a:t>Kafka / Kinesis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3220" y="282549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Segoe U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98648"/>
            <a:ext cx="5074920" cy="402336"/>
          </a:xfrm>
          <a:prstGeom prst="round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2D2D2D"/>
                </a:solidFill>
                <a:latin typeface="Segoe UI"/>
              </a:rPr>
              <a:t>Flink / Structured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3220" y="328269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Segoe U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55848"/>
            <a:ext cx="5074920" cy="402336"/>
          </a:xfrm>
          <a:prstGeom prst="round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2D2D2D"/>
                </a:solidFill>
                <a:latin typeface="Segoe UI"/>
              </a:rPr>
              <a:t>Delta sobre S3 / GCS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3220" y="373989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Segoe U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13048"/>
            <a:ext cx="5074920" cy="402336"/>
          </a:xfrm>
          <a:prstGeom prst="round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2D2D2D"/>
                </a:solidFill>
                <a:latin typeface="Segoe UI"/>
              </a:rPr>
              <a:t>Warehouse / Athena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3220" y="419709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Segoe U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70248"/>
            <a:ext cx="5074920" cy="402336"/>
          </a:xfrm>
          <a:prstGeom prst="round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2D2D2D"/>
                </a:solidFill>
                <a:latin typeface="Segoe UI"/>
              </a:rPr>
              <a:t>Serving en tiempo real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27448"/>
            <a:ext cx="5074920" cy="402336"/>
          </a:xfrm>
          <a:prstGeom prst="round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050" b="1">
                <a:solidFill>
                  <a:srgbClr val="2D2D2D"/>
                </a:solidFill>
                <a:latin typeface="Segoe UI"/>
              </a:rPr>
              <a:t>Gobernanza: Unity Catalog (permisos / accesos)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3952" y="2441448"/>
            <a:ext cx="5074920" cy="402336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Volume (object storage)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7092" y="282549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Segoe U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3952" y="2898648"/>
            <a:ext cx="5074920" cy="402336"/>
          </a:xfrm>
          <a:prstGeom prst="round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Auto Loader · Trigger.AvailableNow (Kappa)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7092" y="328269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Segoe U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3355848"/>
            <a:ext cx="5074920" cy="402336"/>
          </a:xfrm>
          <a:prstGeom prst="round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Bronze → Silver → Gold (Delta)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7092" y="373989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Segoe UI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3952" y="3813048"/>
            <a:ext cx="5074920" cy="402336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Spark 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7092" y="419709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Segoe U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3952" y="4270248"/>
            <a:ext cx="5074920" cy="402336"/>
          </a:xfrm>
          <a:prstGeom prst="round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MLflow + scoring batch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7092" y="465429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Segoe UI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4727448"/>
            <a:ext cx="5074920" cy="402336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Power BI (7 paginas, enlace publico)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2942" y="5166360"/>
            <a:ext cx="3856939" cy="292608"/>
          </a:xfrm>
          <a:prstGeom prst="round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Gold: frontera TRAIN | TEST = filtro session_date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86400"/>
            <a:ext cx="11091672" cy="658368"/>
          </a:xfrm>
          <a:prstGeom prst="roundRect">
            <a:avLst/>
          </a:prstGeom>
          <a:solidFill>
            <a:srgbClr val="C88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PENDIENTE POR CONFIRMAR — Jurado de Grandes Datos: el perfil «BA/HPC» apunta a Edison Valencia; confirmar para dirigirle esta slide.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Heider · 1:45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EDA · El embudo: donde se fuga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La fuga grande no es solo 'no llegan al carrito': 4 de cada 10 carritos mueren ahi.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983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Vistas → carrito 3.86 % → compra 2.27 %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Abandono de carrito: 41.19 %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903 k carritos · $250.4 M en juego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0574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2D2D"/>
                </a:solidFill>
                <a:latin typeface="Segoe UI"/>
              </a:rPr>
              <a:t>Vistas  →  Carrito 3.86 %  →  Compra 2.27 %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2971800"/>
            <a:ext cx="3119000" cy="9601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99760" y="2971800"/>
            <a:ext cx="2184519" cy="960120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59" y="2971800"/>
            <a:ext cx="31190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Compran
58.81 %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99760" y="2971800"/>
            <a:ext cx="218451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Abandonan
41.19 %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4114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Segoe UI"/>
              </a:rPr>
              <a:t>De cada carrito: 4 de cada 10 mueren ahi (903 k carritos · $250.4 M en juego)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Kelly · 0:50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EDA · La paradoja de la electronica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Casi todo el dinero en juego esta en una sola categoria.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983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~$187 M de los $250 M en juego = electronica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Mayor volumen y mayor pool de carritos abandonados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Samsung + Apple = 68.6 % de los carritos de electronica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057400"/>
            <a:ext cx="2691993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Resto (otras categorias + sin taxonomia)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98433" y="2720340"/>
            <a:ext cx="660013" cy="50292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3311" y="26746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D2D2D"/>
                </a:solidFill>
                <a:latin typeface="Segoe UI"/>
              </a:rPr>
              <a:t>~$63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886200"/>
            <a:ext cx="2691993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Electronica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98433" y="4549140"/>
            <a:ext cx="1959088" cy="502920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386" y="45034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A32D2D"/>
                </a:solidFill>
                <a:latin typeface="Segoe UI"/>
              </a:rPr>
              <a:t>$187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5751576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Segoe UI"/>
              </a:rPr>
              <a:t>Revenue en juego · electronica = 75 % de los $250.4 M en juego (incl. sin taxonomia)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Kelly · 1:00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EDA · El nucleo recurrente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Pocos compradores explican casi todo el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983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35.7 % de compradores = 73.7 % del revenue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Ticket recurrente $1,460 vs one-time $289 (5×)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2a compra: mediana 2.9 dias · 84 % misma categoria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057400"/>
            <a:ext cx="2691993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Recurrentes — 35.7 % de clientes · ticket $1,460</a:t>
            </a:r>
          </a:p>
        </p:txBody>
      </p:sp>
      <p:sp>
        <p:nvSpPr>
          <p:cNvPr id="8" name="Rectangle 7"/>
          <p:cNvSpPr/>
          <p:nvPr/>
        </p:nvSpPr>
        <p:spPr>
          <a:xfrm>
            <a:off x="8498433" y="2720340"/>
            <a:ext cx="1621434" cy="5029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74731" y="26746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3B6D11"/>
                </a:solidFill>
                <a:latin typeface="Segoe UI"/>
              </a:rPr>
              <a:t>73.7 %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886200"/>
            <a:ext cx="2691993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One-time — 64.3 % de clientes · ticket $289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98433" y="4549140"/>
            <a:ext cx="578612" cy="50292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31909" y="45034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D2D2D"/>
                </a:solidFill>
                <a:latin typeface="Segoe UI"/>
              </a:rPr>
              <a:t>26.3 %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5751576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Segoe UI"/>
              </a:rPr>
              <a:t>% del revenue · 35.7 % de los compradores hacen el 73.7 % del dinero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Kelly · 0:50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Estrategia de modelado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La metrica y el split se eligen antes de competir modelos; el split, antes de las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983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Target: ¿la sesion contiene purchase? (tasa 5.97 %)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Metrica: PR-AUC + Brier, NO accuracy (evento raro)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Split temporal 'Opcion C': train Oct+Nov≤23 / test 24–30 nov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Cuarentena 14–17 nov · features intra-sesion y pre-corte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El split se hace ANTES de construir features (anti-fuga)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59" y="3154680"/>
            <a:ext cx="3118104" cy="64008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98863" y="3154680"/>
            <a:ext cx="502920" cy="640080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01784" y="3154680"/>
            <a:ext cx="1408176" cy="64008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59" y="3154680"/>
            <a:ext cx="311810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Segoe UI"/>
              </a:rPr>
              <a:t>TRAIN
Oct + Nov ≤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98863" y="2560320"/>
            <a:ext cx="60350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A32D2D"/>
                </a:solidFill>
                <a:latin typeface="Segoe UI"/>
              </a:rPr>
              <a:t>cuarentena
14–17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1784" y="3154680"/>
            <a:ext cx="140817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TEST
24–30 nov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40690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Segoe UI"/>
              </a:rPr>
              <a:t>Un solo split, en la frontera · CV estratificada solo dentro del 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Sara · 1:30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Resultados: la cadena defendible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Cada salto esta justificado y el test casi iguala a la validacion: sin fuga.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983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Dummy 0.056 → Logistica 0.097 → Familias 0.116–0.119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LightGBM+Optuna: CV 0.1235 ± 0.0014 (5 folds)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Test out-of-time 0.1172 (ex-Black-Friday 0.1115)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Test ≈ CV  ⇒  sin fuga ni sobreajuste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057400"/>
            <a:ext cx="269199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Dummy (azar) — trampa del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8498433" y="2263140"/>
            <a:ext cx="880018" cy="50292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33316" y="22174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D2D2D"/>
                </a:solidFill>
                <a:latin typeface="Segoe UI"/>
              </a:rPr>
              <a:t>0.056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971800"/>
            <a:ext cx="269199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Logistica (baseline serio)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98433" y="3177540"/>
            <a:ext cx="1524317" cy="50292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77615" y="31318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D2D2D"/>
                </a:solidFill>
                <a:latin typeface="Segoe UI"/>
              </a:rPr>
              <a:t>0.097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886200"/>
            <a:ext cx="269199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Familias RF / XGB / LGBM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98433" y="4091939"/>
            <a:ext cx="1854324" cy="50292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07622" y="40462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D2D2D"/>
                </a:solidFill>
                <a:latin typeface="Segoe UI"/>
              </a:rPr>
              <a:t>0.116–0.119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800600"/>
            <a:ext cx="269199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LightGBM + Optuna (CV, 5 folds)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98433" y="5006340"/>
            <a:ext cx="1940755" cy="5029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94052" y="49606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3B6D11"/>
                </a:solidFill>
                <a:latin typeface="Segoe UI"/>
              </a:rPr>
              <a:t>0.1235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5751576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Segoe UI"/>
              </a:rPr>
              <a:t>PR-AUC · test out-of-time 0.1172 ≈ CV 0.1235  →  sin fuga ni sobreajuste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Sara · 1:15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Calibracion y umbral operativo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El modelo estima probabilidades calibradas; el negocio decide el umbral, y no es 0.5.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983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Brier 0.0515 — probabilidades calibradas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Umbral F1-optimo ≈ 0.092 (no 0.5)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Marca 15 % de sesiones · precision 12.1 % · recall ~32 %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Lift ~2.2× sobre la base del test (5.6 %)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057400"/>
            <a:ext cx="2691993" cy="12463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Base del test (prevalencia)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98433" y="2429103"/>
            <a:ext cx="880018" cy="50292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33316" y="2383383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D2D2D"/>
                </a:solidFill>
                <a:latin typeface="Segoe UI"/>
              </a:rPr>
              <a:t>5.6 %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303727"/>
            <a:ext cx="2691993" cy="12463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Grupo marcado por el modelo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98433" y="3675430"/>
            <a:ext cx="1901468" cy="5029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54766" y="362971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3B6D11"/>
                </a:solidFill>
                <a:latin typeface="Segoe UI"/>
              </a:rPr>
              <a:t>12.1 %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458663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Segoe UI"/>
              </a:rPr>
              <a:t>Umbral F1-optimo 0.092 (no 0.5) → marca 15 % de sesiones · lift ~2.2×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5385816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2D2D2D"/>
                </a:solidFill>
                <a:latin typeface="Segoe UI"/>
              </a:rPr>
              <a:t>Calibrado (Brier 0.0515): la probabilidad predicha ≈ frecuencia real de compra.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Sara · 1:00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Que predice la compra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Lo que predice la compra es que tan caro/electronico es lo que miras, no cuanto navegas.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983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Importancia por PERMUTACION (no la built-in del arbol)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max_price_viewed · electronics_view_share · avg_price_viewed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La built-in subestima electronics_view_share (0.042 vs 0.203)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Coherente con el EDA: se decide en ~2.2 min, navegan menos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0574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Segoe UI"/>
              </a:rPr>
              <a:t>electronics_view_share — importancia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468880"/>
            <a:ext cx="2691993" cy="10401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Built-in (split-count) — subestima</a:t>
            </a:r>
          </a:p>
        </p:txBody>
      </p:sp>
      <p:sp>
        <p:nvSpPr>
          <p:cNvPr id="9" name="Rectangle 8"/>
          <p:cNvSpPr/>
          <p:nvPr/>
        </p:nvSpPr>
        <p:spPr>
          <a:xfrm>
            <a:off x="8498433" y="2737485"/>
            <a:ext cx="420008" cy="50292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3306" y="2691765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D2D2D"/>
                </a:solidFill>
                <a:latin typeface="Segoe UI"/>
              </a:rPr>
              <a:t>0.042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509010"/>
            <a:ext cx="2691993" cy="10401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Permutacion (la que leemos)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98433" y="3777615"/>
            <a:ext cx="2030042" cy="5029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83340" y="3731895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3B6D11"/>
                </a:solidFill>
                <a:latin typeface="Segoe UI"/>
              </a:rPr>
              <a:t>0.203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658868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Segoe UI"/>
              </a:rPr>
              <a:t>Probabilidad de compra vs. precio de lo que miras (PDP):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5042916"/>
            <a:ext cx="22860" cy="94183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5984748"/>
            <a:ext cx="4663440" cy="2286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85431" y="5856732"/>
            <a:ext cx="128016" cy="128016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52283" y="5708599"/>
            <a:ext cx="128016" cy="128016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19134" y="5560466"/>
            <a:ext cx="128016" cy="128016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5985" y="5412333"/>
            <a:ext cx="128016" cy="128016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52836" y="5264200"/>
            <a:ext cx="128016" cy="128016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219688" y="5116068"/>
            <a:ext cx="128016" cy="128016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79" y="5070348"/>
            <a:ext cx="960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Segoe UI"/>
              </a:rPr>
              <a:t>P(compra) 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60396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Segoe UI"/>
              </a:rPr>
              <a:t>max_price_viewed 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Sara · 1:15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Segmentos (clustering): aparece C3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De 5 tipos de visitante, uno destaca por convertir y pesar a la vez: C3.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983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k = 5 elegido por ACCIONABILIDAD (no por la metrica)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C3 'electronica gama media': 29.3 % traf. · conv 8.4 % (la mayor)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C4 premium (13.8 %, $1,024, 5.8 %) · C0 bajo valor (49.8 %)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C1 explorador (7 %) · C2 anomalo · DBSCAN: 1 masa + 3.7 % ruido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057400"/>
            <a:ext cx="269199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C0 general bajo valor (49.8 % traf.)</a:t>
            </a:r>
          </a:p>
        </p:txBody>
      </p:sp>
      <p:sp>
        <p:nvSpPr>
          <p:cNvPr id="8" name="Rectangle 7"/>
          <p:cNvSpPr/>
          <p:nvPr/>
        </p:nvSpPr>
        <p:spPr>
          <a:xfrm>
            <a:off x="8498433" y="2263140"/>
            <a:ext cx="1171763" cy="50292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25061" y="22174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D2D2D"/>
                </a:solidFill>
                <a:latin typeface="Segoe UI"/>
              </a:rPr>
              <a:t>4.9 %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971800"/>
            <a:ext cx="269199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C4 premium (13.8 % traf. · $1,024)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98433" y="3177540"/>
            <a:ext cx="1386985" cy="50292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40283" y="31318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D2D2D"/>
                </a:solidFill>
                <a:latin typeface="Segoe UI"/>
              </a:rPr>
              <a:t>5.8 %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886200"/>
            <a:ext cx="269199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Base global (azar)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98433" y="4091939"/>
            <a:ext cx="1427638" cy="502920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80936" y="40462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D2D2D"/>
                </a:solidFill>
                <a:latin typeface="Segoe UI"/>
              </a:rPr>
              <a:t>5.97 %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800600"/>
            <a:ext cx="269199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C3 gama media (29.3 % traf.) = OBJETIVO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98433" y="5006340"/>
            <a:ext cx="2008738" cy="5029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62035" y="4960620"/>
            <a:ext cx="914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3B6D11"/>
                </a:solidFill>
                <a:latin typeface="Segoe UI"/>
              </a:rPr>
              <a:t>8.4 %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5751576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Segoe UI"/>
              </a:rPr>
              <a:t>% de conversion vs. base global 5.97 % · C3 la mayor. (C1 explorador 7 %, C2 anomalo)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Sara · 1:10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El cruce: clasificador ×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El segmento dice DONDE intervenir; el modelo dice A QUIEN.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103120"/>
            <a:ext cx="10177272" cy="868680"/>
          </a:xfrm>
          <a:prstGeom prst="round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CLUSTERING  →  el DONDE:  bloque electronica C3 + C4 (43 % del trafico)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0156" y="2990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Segoe UI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291840"/>
            <a:ext cx="10177272" cy="86868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CLASIFICADOR  →  el A QUIEN:  ordena sesion a sesion dentro del bloque
(Contrato 2: user_session · prob_calibrada · segmento)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0156" y="41788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Segoe U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430" y="4453128"/>
            <a:ext cx="7124090" cy="640080"/>
          </a:xfrm>
          <a:prstGeom prst="round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= targeting fino: a quien mostrarle el incentivo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Yeison · 1:05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El experimento (A/B)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Con datos observacionales no prometemos uplift causal: entregamos el DISENO.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331720" cy="868680"/>
          </a:xfrm>
          <a:prstGeom prst="round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Segmento
C3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2072" y="25831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0984" y="2286000"/>
            <a:ext cx="2331720" cy="86868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Aleatorizar
por visitante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2976" y="25831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61888" y="2286000"/>
            <a:ext cx="2331720" cy="399592"/>
          </a:xfrm>
          <a:prstGeom prst="round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2D2D2D"/>
                </a:solidFill>
                <a:latin typeface="Segoe UI"/>
              </a:rPr>
              <a:t>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1888" y="2755087"/>
            <a:ext cx="2331720" cy="399592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Tratamiento (incentivo)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5831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22792" y="2286000"/>
            <a:ext cx="2468879" cy="86868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Metrica:
conv/visitante
+ guardarrail margen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10908792" cy="777240"/>
          </a:xfrm>
          <a:prstGeom prst="round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Tamano:  MDE +0.5 pp (8.4 % → 8.9 %)  ⇒  ~49,600 por brazo  (~99,200 en total)  ·  alcanzable en pocos dias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Yeison · 1:15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Despliegue tecnologico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El modelo no quedo en un notebook: se persiste, alimenta el tablero y el A/B, y esta verificado.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2514600" cy="9144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MLflow
(modelo calibrado +
signature)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6936" y="2560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73552" y="2240280"/>
            <a:ext cx="2514600" cy="9144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Scoring batch
(pandas UDFs,
sin OOM)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128" y="2560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52744" y="2240280"/>
            <a:ext cx="2514600" cy="914400"/>
          </a:xfrm>
          <a:prstGeom prst="round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Contrato 2 en Delta
19.71 M filas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560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31936" y="2240280"/>
            <a:ext cx="2514600" cy="9144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Alimenta:
Tablero + A/B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520440"/>
            <a:ext cx="11000232" cy="731520"/>
          </a:xfrm>
          <a:prstGeom prst="round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Verificado: al recargar reproduce PR-AUC 0.1172 · Brier 0.0515 · prob. media ≈ 0.060 (≈ tasa base)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Heider · 1:00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Conclusiones: respondemos la Pregunta de Oro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La fuga se concentra en el carrito de electronica; C3 es la mayor oportunidad.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317236" cy="1737360"/>
          </a:xfrm>
          <a:prstGeom prst="round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DONDE
El carrito de electronica
41 % de abandono · $187 M en juego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3076" y="2148840"/>
            <a:ext cx="5317236" cy="1737360"/>
          </a:xfrm>
          <a:prstGeom prst="round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QUIEN
C3 — electronica gama media
mayor conversion (8.4 %)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2D2D2D"/>
                </a:solidFill>
                <a:latin typeface="Segoe UI"/>
              </a:rPr>
              <a:t>Palanca A: recuperar carritos de alta intencion   ·   Palanca B: retener al nucleo recurrente (73.7 % del revenue)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68112"/>
            <a:ext cx="11091672" cy="713232"/>
          </a:xfrm>
          <a:prstGeom prst="round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522976"/>
            <a:ext cx="10607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  <a:latin typeface="Segoe UI"/>
              </a:rPr>
              <a:t>Pregunta de Oro — respondida: DONDE = carrito de electronica · QUIEN = C3 (electronica gama media)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Yeison · 1:20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BBBB"/>
                </a:solidFill>
                <a:latin typeface="Segoe U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D2D2D"/>
                </a:solidFill>
                <a:latin typeface="Segoe UI"/>
              </a:rPr>
              <a:t>Demo del tablero en vivo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188720"/>
            <a:ext cx="2194560" cy="45720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16736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6D11"/>
                </a:solidFill>
                <a:latin typeface="Segoe UI"/>
              </a:rPr>
              <a:t>Lo que contamos se sostiene con datos, en vivo, desde el enlace publico.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49834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Power BI Service · enlace publico · 7 paginas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Recorrido: Problema → Detalle Electronics → Cliente → Cierre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D2D2D"/>
                </a:solidFill>
                <a:latin typeface="Segoe UI"/>
              </a:rPr>
              <a:t>•  Filtrar EN VIVO (Top N marcas, categoria)</a:t>
            </a:r>
          </a:p>
          <a:p>
            <a:pPr>
              <a:spcAft>
                <a:spcPts val="1000"/>
              </a:spcAft>
            </a:pPr>
            <a:r>
              <a:rPr sz="1550" b="0">
                <a:solidFill>
                  <a:srgbClr val="2D2D2D"/>
                </a:solidFill>
                <a:latin typeface="Segoe UI"/>
              </a:rPr>
              <a:t>•  Responder la Pregunta de Oro desde el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2606040"/>
            <a:ext cx="3657600" cy="201168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TABLERO EN VIVO
(abrir el enlace publico y filtrar)
Tener captura de respaldo por si falla la 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091672" cy="658368"/>
          </a:xfrm>
          <a:prstGeom prst="roundRect">
            <a:avLst/>
          </a:prstGeom>
          <a:solidFill>
            <a:srgbClr val="C88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532120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PENDIENTE POR CONFIRMAR — ¿El tablero ya muestra el clustering (C3) en 'Analisis de cliente'? Si no, enrutar el demo por 'Detalle Electronics'.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BBBB"/>
                </a:solidFill>
                <a:latin typeface="Segoe UI"/>
              </a:rPr>
              <a:t>PI Grupo 8 · Defensa 9-jun-2026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6455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BBBB"/>
                </a:solidFill>
                <a:latin typeface="Segoe UI"/>
              </a:rPr>
              <a:t>Kelly · 2:00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Gracias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941832" y="3383280"/>
            <a:ext cx="2743200" cy="54864"/>
          </a:xfrm>
          <a:prstGeom prst="rect">
            <a:avLst/>
          </a:prstGeom>
          <a:solidFill>
            <a:srgbClr val="3B6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BBBBB"/>
                </a:solidFill>
                <a:latin typeface="Segoe UI"/>
              </a:rPr>
              <a:t>¿Donde se concentra la fuga y que segmento es la mayor oportunidad? — lista para sus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  <a:latin typeface="Segoe UI"/>
              </a:rPr>
              <a:t>La prediccion es el instrumento; la decision de negocio es el producto.
PI Grupo 8  ·  Kelly · Sara · Heider · Yeison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